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02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FC3D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事業ブリーフィング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3520440"/>
            <a:ext cx="2011680" cy="1828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3767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3D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何を、なぜ、どう作っているか — そして、これから何が要るか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39496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3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2026年7月26日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本日は「なぜやるか」から始め、市場性を確かめ、最後に役割のすり合わせまで行く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70992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何を解こうとしているのか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02082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学生団体が抱える3つの構造課題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10801807" y="17373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276856"/>
            <a:ext cx="11057839" cy="7315"/>
          </a:xfrm>
          <a:prstGeom prst="rect">
            <a:avLst/>
          </a:prstGeom>
          <a:solidFill>
            <a:srgbClr val="C9D2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66928" y="2368296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理念と、信用が回る仕組み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8833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3つの行動指針と、正のスパイラル構造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10801807" y="24048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944368"/>
            <a:ext cx="11057839" cy="7315"/>
          </a:xfrm>
          <a:prstGeom prst="rect">
            <a:avLst/>
          </a:prstGeom>
          <a:solidFill>
            <a:srgbClr val="C9D2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66928" y="3035808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04495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どう成り立たせるか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35584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二層構造・三者の循環・キャッシュポイント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10801807" y="30723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611880"/>
            <a:ext cx="11057839" cy="7315"/>
          </a:xfrm>
          <a:prstGeom prst="rect">
            <a:avLst/>
          </a:prstGeom>
          <a:solidFill>
            <a:srgbClr val="C9D2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66928" y="370332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71246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勝てる場所か、成り立つか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0233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競合の整理とポジショニング／市場規模（TAM・SAM・SOM）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10801807" y="373989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2分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4279392"/>
            <a:ext cx="11057839" cy="7315"/>
          </a:xfrm>
          <a:prstGeom prst="rect">
            <a:avLst/>
          </a:prstGeom>
          <a:solidFill>
            <a:srgbClr val="C9D2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66928" y="4370832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437997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いまの現在地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46908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できているもの／まだ来ていないもの（実数）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10801807" y="44074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1分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4946904"/>
            <a:ext cx="11057839" cy="7315"/>
          </a:xfrm>
          <a:prstGeom prst="rect">
            <a:avLst/>
          </a:prstGeom>
          <a:solidFill>
            <a:srgbClr val="C9D2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566928" y="5038344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0160" y="504748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これから要る力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0160" y="53583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残タスクの構造と、お願いしたい領域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10801807" y="5074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2分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5614416"/>
            <a:ext cx="11057839" cy="7315"/>
          </a:xfrm>
          <a:prstGeom prst="rect">
            <a:avLst/>
          </a:prstGeom>
          <a:solidFill>
            <a:srgbClr val="C9D2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66928" y="6126480"/>
            <a:ext cx="104177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所要は目安で合計約11分。時間が押したら 04 の市場・競合と、ページ構成の一覧は口頭で省略できる構成にしている。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　何を解こうとしているのか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学生団体には毎年、莫大な熱量が投じられている。だがそれは可視化されず、代替わりのたびにゼロへ戻る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709928"/>
            <a:ext cx="3533546" cy="269748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68096" y="1856232"/>
            <a:ext cx="31312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不可視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2258568"/>
            <a:ext cx="313121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活動の実態が外から見えない。</a:t>
            </a:r>
            <a:endParaRPr lang="en-US" sz="1200" dirty="0"/>
          </a:p>
          <a:p>
            <a:pPr marL="0" indent="0">
              <a:lnSpc>
                <a:spcPts val="1860"/>
              </a:lnSpc>
              <a:buNone/>
            </a:pPr>
            <a:endParaRPr lang="en-US" sz="1200" dirty="0"/>
          </a:p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企業は「どの団体に、どんな力を持つ学生がいるか」を知る手段を持たない。学生自身も、自分が何を身につけたかを説明できない。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9074" y="1709928"/>
            <a:ext cx="3533546" cy="269748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30242" y="1856232"/>
            <a:ext cx="31312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30242" y="2258568"/>
            <a:ext cx="313121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代替わりで全てがリセットされる。</a:t>
            </a:r>
            <a:endParaRPr lang="en-US" sz="1200" dirty="0"/>
          </a:p>
          <a:p>
            <a:pPr marL="0" indent="0">
              <a:lnSpc>
                <a:spcPts val="1860"/>
              </a:lnSpc>
              <a:buNone/>
            </a:pPr>
            <a:endParaRPr lang="en-US" sz="1200" dirty="0"/>
          </a:p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運営ノウハウ・会計・人脈・企業とのつながりが、毎年ゼロから作り直されている。組織として積み上がらない。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1221" y="1709928"/>
            <a:ext cx="3533546" cy="269748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292389" y="1856232"/>
            <a:ext cx="31312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断絶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92389" y="2258568"/>
            <a:ext cx="313121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情熱が実務能力として評価されない。</a:t>
            </a:r>
            <a:endParaRPr lang="en-US" sz="1200" dirty="0"/>
          </a:p>
          <a:p>
            <a:pPr marL="0" indent="0">
              <a:lnSpc>
                <a:spcPts val="1860"/>
              </a:lnSpc>
              <a:buNone/>
            </a:pPr>
            <a:endParaRPr lang="en-US" sz="1200" dirty="0"/>
          </a:p>
          <a:p>
            <a:pPr marL="0" indent="0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数百人規模のイベントを回した経験が、社会からは「サークル活動」としか見えない。橋が架かっていない。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636008"/>
            <a:ext cx="11057839" cy="777240"/>
          </a:xfrm>
          <a:prstGeom prst="rect">
            <a:avLst/>
          </a:prstGeom>
          <a:solidFill>
            <a:srgbClr val="F2F4F7"/>
          </a:solidFill>
          <a:ln w="158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66928" y="4636008"/>
            <a:ext cx="11057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この3つは別々の問題ではなく、「見えない → 蓄積されない → 評価されない」という一本の因果である。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理念と、信用が回る仕組み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3つの課題に、3つの行動指針を正面から対応させている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11057839" cy="841248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41248" y="16916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7E93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MISSION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920240"/>
            <a:ext cx="1050919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学生団体の潜在能力を顕在化し、持続可能な成長インフラを創る。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" y="2798064"/>
            <a:ext cx="3533546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66928" y="2798064"/>
            <a:ext cx="3533546" cy="50292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86384" y="3127248"/>
            <a:ext cx="30946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不可視を可視に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86384" y="3666744"/>
            <a:ext cx="309463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見えない熱量を、社会が扱える価値へ変える。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" y="4489704"/>
            <a:ext cx="30946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課題①「不可視」に効く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29074" y="2798064"/>
            <a:ext cx="3533546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329074" y="2798064"/>
            <a:ext cx="3533546" cy="50292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48530" y="3127248"/>
            <a:ext cx="30946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流動を蓄積に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8530" y="3666744"/>
            <a:ext cx="309463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代替わりのリセットを、積み上がる知力へ。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8530" y="4489704"/>
            <a:ext cx="30946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課題②「流動」に効く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91221" y="2798064"/>
            <a:ext cx="3533546" cy="214884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091221" y="2798064"/>
            <a:ext cx="3533546" cy="50292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310677" y="3127248"/>
            <a:ext cx="30946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学生からプロへ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10677" y="3666744"/>
            <a:ext cx="309463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情熱を、ビジネス水準の実務能力へ。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10677" y="4489704"/>
            <a:ext cx="30946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課題③「断絶」に効く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5157216"/>
            <a:ext cx="1105783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この理念は飾りではなく機能の設計図。作る機能は必ず「リソース獲得／価値創造／組織基盤／資産継承」のどれかに紐づける。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理念と、信用が回る仕組み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核にあるのは「信用の循環」。一周するごとに信用が厚くなる、正のスパイラルを回す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98648" y="2231136"/>
            <a:ext cx="6400800" cy="2962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 rot="8100000">
            <a:off x="8234057" y="2536991"/>
            <a:ext cx="256032" cy="256032"/>
          </a:xfrm>
          <a:prstGeom prst="triangle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 rot="13500000">
            <a:off x="8234057" y="4631905"/>
            <a:ext cx="256032" cy="256032"/>
          </a:xfrm>
          <a:prstGeom prst="triangle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 rot="18900000">
            <a:off x="3708007" y="4631905"/>
            <a:ext cx="256032" cy="256032"/>
          </a:xfrm>
          <a:prstGeom prst="triangle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 rot="2700000">
            <a:off x="3708007" y="2536991"/>
            <a:ext cx="256032" cy="256032"/>
          </a:xfrm>
          <a:prstGeom prst="triangle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658868" y="1636776"/>
            <a:ext cx="2880360" cy="1188720"/>
          </a:xfrm>
          <a:prstGeom prst="rect">
            <a:avLst/>
          </a:prstGeom>
          <a:solidFill>
            <a:srgbClr val="F2F4F7"/>
          </a:solidFill>
          <a:ln w="15875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823460" y="1764792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活動する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23460" y="2093976"/>
            <a:ext cx="25511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日々の運営をProofLoop上で回す。タスク・イベント・会計が記録として残る。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59268" y="3118104"/>
            <a:ext cx="2880360" cy="1188720"/>
          </a:xfrm>
          <a:prstGeom prst="rect">
            <a:avLst/>
          </a:prstGeom>
          <a:solidFill>
            <a:srgbClr val="F2F4F7"/>
          </a:solidFill>
          <a:ln w="15875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023860" y="3246120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記録が貯まる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23860" y="3575304"/>
            <a:ext cx="25511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「何をやり切ったか」が事実として蓄積される。自己申告ではない、検証可能な活動ログ。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58868" y="4599432"/>
            <a:ext cx="2880360" cy="1188720"/>
          </a:xfrm>
          <a:prstGeom prst="rect">
            <a:avLst/>
          </a:prstGeom>
          <a:solidFill>
            <a:srgbClr val="002B5C"/>
          </a:solidFill>
          <a:ln w="15875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823460" y="4727448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信用になる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23460" y="5056632"/>
            <a:ext cx="25511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8E2E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記録の厚みがそのまま信用になる。企業が協賛・採用を判断できる材料に。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458468" y="3118104"/>
            <a:ext cx="2880360" cy="1188720"/>
          </a:xfrm>
          <a:prstGeom prst="rect">
            <a:avLst/>
          </a:prstGeom>
          <a:solidFill>
            <a:srgbClr val="F2F4F7"/>
          </a:solidFill>
          <a:ln w="15875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623060" y="3246120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資源が返る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623060" y="3575304"/>
            <a:ext cx="25511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協賛金・スカウト・機会が返り、活動がさらに大きくなる。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07408" y="3054096"/>
            <a:ext cx="33832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信用（Proof）
</a:t>
            </a:r>
            <a:r>
              <a:rPr lang="en-US" sz="11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一周するごとに厚くなる
</a:t>
            </a:r>
            <a:r>
              <a:rPr lang="en-US" sz="12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ProofLoop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66928" y="594360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一周ごとに信用が積み増される。これは代替わりでもリセットされない、団体の資産になる。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　どう成り立たせるか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事業は二層構造。B2Cメディアで人を集め、B2B側で回収する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4892040" cy="2788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86384" y="2029968"/>
            <a:ext cx="4453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B2C層 ── 集客の入口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578481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505456"/>
            <a:ext cx="4233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68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GPA計算機（検索需要が大きく、競合が弱い）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" y="2925953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4233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68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新入生ガイド（サークル・単位・お金・一人暮らし・留学）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" y="3273425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4233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68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バイト／インターンのガイド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3620897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3547872"/>
            <a:ext cx="4233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68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診断コンテンツ（SNS拡散のフック）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" y="3977640"/>
            <a:ext cx="4434840" cy="7315"/>
          </a:xfrm>
          <a:prstGeom prst="rect">
            <a:avLst/>
          </a:prstGeom>
          <a:solidFill>
            <a:srgbClr val="C9D2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04672" y="4105656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役割：検索とSNSで「認知」と「日常利用」を取る。ここ自体は大きく稼がない。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1847088"/>
            <a:ext cx="4892040" cy="2788920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501384" y="2029968"/>
            <a:ext cx="4453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B2B層 ── 収益の出口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01384" y="256032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2E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学生団体の運営を日常的に支え、そこに貯まる活動データを、企業に対する価値へ変える層。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8E2E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収益はここで生まれる。詳しくは次ページ以降で扱う。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01384" y="3977640"/>
            <a:ext cx="4434840" cy="7315"/>
          </a:xfrm>
          <a:prstGeom prst="rect">
            <a:avLst/>
          </a:prstGeom>
          <a:solidFill>
            <a:srgbClr val="3A5E8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501384" y="4105656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役割：日常業務を押さえ、検証可能な記録を貯める。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68696" y="3168396"/>
            <a:ext cx="603504" cy="0"/>
          </a:xfrm>
          <a:prstGeom prst="line">
            <a:avLst/>
          </a:prstGeom>
          <a:noFill/>
          <a:ln w="22225">
            <a:solidFill>
              <a:srgbClr val="8B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477256" y="325983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送り込む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5020056"/>
            <a:ext cx="11057839" cy="777240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41248" y="5020056"/>
            <a:ext cx="1050919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戦略の順序：まずB2Cで流入を貯める → 学生団体の獲得へ変換する → 団体データが厚くなって初めて企業に売れる。順番は飛ばせない。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　どう成り立たせるか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三者は互いに引き合う。厚みが出るほど強くなり、課金するのは企業だけ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82496"/>
            <a:ext cx="3310128" cy="475488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49808" y="1764792"/>
            <a:ext cx="2944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学生（個人）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3310128" cy="1042416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2587752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検索：GPA計算機・各種ガイド・バイト情報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331012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49808" y="34747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リテンション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3721608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日常利用：授業レビュー・タイムラインなどの日々更新される生きた情報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41064" y="3236976"/>
            <a:ext cx="448056" cy="0"/>
          </a:xfrm>
          <a:prstGeom prst="line">
            <a:avLst/>
          </a:prstGeom>
          <a:noFill/>
          <a:ln w="22225">
            <a:solidFill>
              <a:srgbClr val="8B000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453128" y="1682496"/>
            <a:ext cx="3310128" cy="475488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636008" y="1764792"/>
            <a:ext cx="2944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学生団体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53128" y="2249424"/>
            <a:ext cx="3310128" cy="1042416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636008" y="23408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36008" y="2587752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掲載2,421団体・新歓・メンバー招待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53128" y="3383280"/>
            <a:ext cx="331012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636008" y="34747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リテンション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36008" y="3721608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日々の運営がProofLoop上で回り、活動の記録が貯まっていく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27264" y="3236976"/>
            <a:ext cx="448056" cy="0"/>
          </a:xfrm>
          <a:prstGeom prst="line">
            <a:avLst/>
          </a:prstGeom>
          <a:noFill/>
          <a:ln w="22225">
            <a:solidFill>
              <a:srgbClr val="8B000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8339328" y="1682496"/>
            <a:ext cx="3310128" cy="47548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522208" y="1764792"/>
            <a:ext cx="2944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企業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39328" y="2249424"/>
            <a:ext cx="3310128" cy="1042416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8522208" y="23408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流入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22208" y="2587752"/>
            <a:ext cx="2944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団体データベースの検索・スカウト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39328" y="3383280"/>
            <a:ext cx="3310128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8522208" y="34747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リテンション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22208" y="3721608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協賛の実施報告・継続的なマッチング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39212" y="4754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学生が集まるほど団体が集まり、</a:t>
            </a:r>
            <a:endParaRPr lang="en-US" sz="95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団体が増えるほど学生が来る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5412" y="4754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記録が厚いほど企業が来て、</a:t>
            </a:r>
            <a:endParaRPr lang="en-US" sz="950" dirty="0"/>
          </a:p>
          <a:p>
            <a:pPr marL="0" indent="0" algn="ctr">
              <a:lnSpc>
                <a:spcPts val="1250"/>
              </a:lnSpc>
              <a:buNone/>
            </a:pPr>
            <a:r>
              <a:rPr lang="en-US" sz="95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企業が来るほど団体が離れなくなる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5303520"/>
            <a:ext cx="11057839" cy="566928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841248" y="5303520"/>
            <a:ext cx="10509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E93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CASH POINT　</a:t>
            </a: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課金するのは③企業だけ。①学生・②学生団体は無料で価値を受け取り、その厚みが商品になる。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" y="6126480"/>
            <a:ext cx="104177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掲載団体数は2026-07-26時点の承認済み件数（Supabase実数）。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　どう成り立たせるか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本命は協賛マッチング（実務型スカウト）。他は当面の運転資金であり、主戦場ではない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11057839" cy="2212848"/>
          </a:xfrm>
          <a:prstGeom prst="rect">
            <a:avLst/>
          </a:prstGeom>
          <a:solidFill>
            <a:srgbClr val="F2F4F7"/>
          </a:solidFill>
          <a:ln w="254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11057839" cy="6400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59536" y="18653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13969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協賛マッチング／実務型スカウト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9536" y="2651760"/>
            <a:ext cx="10472623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企業が「どの学生団体に協賛するか」「どの学生を採るか」を、活動ログという事実ベースで選べるようにする。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従来の就活サービスが持てなかった「実際に何をやり切ったか」のデータを、日常業務の副産物として持てるのが我々の強み。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協賛金の使途が会計モジュールに透明に記録され、企業への実施報告まで一本でつながる設計にしてある。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059936"/>
            <a:ext cx="5391760" cy="137160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68096" y="4206240"/>
            <a:ext cx="498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アフィリエイト（稼働中・小）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" y="4608576"/>
            <a:ext cx="498942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ガイド記事に開示付きで設置。提携3社が稼働、8件が審査待ち。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一次情報が主役・広告は脇、を厳守（就活系は利益相反のため恒久除外）。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3008" y="4059936"/>
            <a:ext cx="5391760" cy="137160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34176" y="4206240"/>
            <a:ext cx="498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団体向けSaaS課金（将来・小〜中）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34176" y="4608576"/>
            <a:ext cx="498942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会計モジュールなど、業務に埋まる機能の有料化余地。</a:t>
            </a:r>
            <a:endParaRPr lang="en-US" sz="1000" dirty="0"/>
          </a:p>
          <a:p>
            <a:pPr marL="0" indent="0">
              <a:lnSpc>
                <a:spcPts val="1550"/>
              </a:lnSpc>
              <a:buNone/>
            </a:pPr>
            <a:r>
              <a:rPr lang="en-US" sz="10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ただし団体からの課金は普及の障害にもなるため、慎重に扱う。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6126480"/>
            <a:ext cx="104177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アフィリエイトはバリューコマース経由。提携状況は2026-07-26時点。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　勝てる場所か、成り立つか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既存プレイヤーは「取引の場」。我々は取引の前提になる“記録”を押さえに行く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2029968"/>
            <a:ext cx="6858000" cy="320040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995928" y="2029968"/>
            <a:ext cx="10973" cy="3200400"/>
          </a:xfrm>
          <a:prstGeom prst="rect">
            <a:avLst/>
          </a:prstGeom>
          <a:solidFill>
            <a:srgbClr val="C9D2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66928" y="3630168"/>
            <a:ext cx="6858000" cy="10973"/>
          </a:xfrm>
          <a:prstGeom prst="rect">
            <a:avLst/>
          </a:prstGeom>
          <a:solidFill>
            <a:srgbClr val="C9D2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66928" y="173736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↑ 日常業務の基盤（記録が貯まる）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526694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 単発のマッチング（取引の場のみ）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6656" y="33558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← 協賛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0" y="33558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 →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32688" y="3813048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024128" y="39044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ガクセイ協賛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4160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2014年〜／全国600校／実績1万件以上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252728" y="468172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344168" y="4773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カレッジ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44168" y="4881157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協賛マッチング・無料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53128" y="4087368"/>
            <a:ext cx="2606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544568" y="41788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就職情報サイト／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ダイレクトリクルーティング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44568" y="4434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学生の自己申告プロフィールが情報源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61488" y="2286000"/>
            <a:ext cx="2468880" cy="8686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2852928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52928" y="268833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E8CFC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協賛と採用の両方に、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E8CFC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同じ活動記録が効く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82128" y="1737360"/>
            <a:ext cx="37426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このポジションが筋の良い理由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882128" y="2246122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8083296" y="2176272"/>
            <a:ext cx="3541471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95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活動データは後から買えない。毎日の業務を押さえた者だけが持てる資産で、これが参入障壁になる。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82128" y="3087370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8083296" y="3017520"/>
            <a:ext cx="3541471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95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同じ記録が協賛と採用の両方に効く。一つの資産で二つの市場に当たれる。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82128" y="3928618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083296" y="3858768"/>
            <a:ext cx="3541471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95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会計まで押さえているため、協賛金の使途を透明に報告できる。企業がお金を出す最大の障害を外せる。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82128" y="4769866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083296" y="4700016"/>
            <a:ext cx="3541471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95"/>
              </a:lnSpc>
              <a:buNone/>
            </a:pPr>
            <a:r>
              <a:rPr lang="en-US" sz="11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既存プレイヤーと正面から食い合わない。彼らの「取引の場」の手前にある基盤を取りに行く。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6126480"/>
            <a:ext cx="104177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出典：ガクセイ協賛（gakuseikyosan.com／株式会社ガロア）、カレッジ（college.co.jp）の公開情報。位置づけは公開情報にもとづく当社の解釈であり、各社の実態を断定するものではない。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　勝てる場所か、成り立つか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採用市場だけで1,500億円超。ここに協賛を足した市場の一部を取れれば事業は成り立つ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5852160" cy="4114800"/>
          </a:xfrm>
          <a:prstGeom prst="ellipse">
            <a:avLst/>
          </a:prstGeom>
          <a:solidFill>
            <a:srgbClr val="F2F4F7"/>
          </a:solidFill>
          <a:ln w="1905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約1,600億円／年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645920" y="2468880"/>
            <a:ext cx="3931920" cy="2743200"/>
          </a:xfrm>
          <a:prstGeom prst="ellipse">
            <a:avLst/>
          </a:prstGeom>
          <a:solidFill>
            <a:srgbClr val="D6E1EE"/>
          </a:solidFill>
          <a:ln w="19050">
            <a:solidFill>
              <a:srgbClr val="1D4E8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645920" y="25968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1236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45920" y="28346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65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約350〜500億円／年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583180" y="3131820"/>
            <a:ext cx="2057400" cy="1417320"/>
          </a:xfrm>
          <a:prstGeom prst="ellipse">
            <a:avLst/>
          </a:prstGeom>
          <a:solidFill>
            <a:srgbClr val="8B0000"/>
          </a:solidFill>
          <a:ln w="1905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583180" y="351129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83180" y="3749040"/>
            <a:ext cx="2057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約0.5億円／年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54132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円の面積は実際の比率ではない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95160" y="1719072"/>
            <a:ext cx="50292" cy="868680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178040" y="1719072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0" y="1719072"/>
            <a:ext cx="366948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新卒採用支援サービス市場 1,532.6億円（2025年度予測・矢野経済研究所）＋ 学生団体の協賛 約80億円（当社試算）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95160" y="2743200"/>
            <a:ext cx="50292" cy="868680"/>
          </a:xfrm>
          <a:prstGeom prst="rect">
            <a:avLst/>
          </a:prstGeom>
          <a:solidFill>
            <a:srgbClr val="1D4E8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178040" y="274320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1D4E8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55280" y="2743200"/>
            <a:ext cx="366948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うち「学生個人・団体を指名して当たる」領域（新卒紹介・ダイレクトリクルーティング）＋ オンラインで仲介される協賛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95160" y="3767328"/>
            <a:ext cx="50292" cy="868680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178040" y="3767328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SOM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55280" y="3767328"/>
            <a:ext cx="366948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登録団体3,000 × 協賛ポテンシャル30%＝900団体 × 年2件 × 平均20万円 ＝ 流通3.6億円 × テイクレート10% ＝ 3,600万円／年　＋ スカウト成立分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95160" y="4828032"/>
            <a:ext cx="4629607" cy="1371600"/>
          </a:xfrm>
          <a:prstGeom prst="rect">
            <a:avLst/>
          </a:prstGeom>
          <a:solidFill>
            <a:srgbClr val="F2F4F7"/>
          </a:solidFill>
          <a:ln w="158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214616" y="4937760"/>
            <a:ext cx="4190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前提（ここが崩れると数字が変わる。要検証）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14616" y="5230368"/>
            <a:ext cx="41906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・協賛市場に公開統計は無い。大学在学者297万人（令和7年度 学校基本調査）から、団体加入率5割・1団体30人 → 約5万団体、年間協賛10万円/団体として約80億円と置いた。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・協賛ポテンシャル30%、年2件、テイクレート10%はいずれも仮置き。実際の単価と成約率はヒアリングで確かめる。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6126480"/>
            <a:ext cx="104177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出典：矢野経済研究所「新卒採用支援サービス市場に関する調査（2025年）」／文部科学省 令和7年度 学校基本調査。太字でない数値は当社の仮定にもとづく試算。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　いまの現在地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プロダクトは一通り動いている。各ページに「三者 × 流入／リテンション」の役割を割り振ってある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27632"/>
            <a:ext cx="50292" cy="786384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49808" y="162763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B2C ／ 学生の流入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38728" y="1627632"/>
            <a:ext cx="8040319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/gpa（GPA計算機・主要SEO施策）　/guide（新入生ガイドハブ）　/guide/credits・money・living-alone・circle・study-abroad　/baito（バイト・インターン）　/baito/simulator・study-abroad/recommend（診断＝拡散フック）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749808" y="2478024"/>
            <a:ext cx="10874959" cy="5486"/>
          </a:xfrm>
          <a:prstGeom prst="rect">
            <a:avLst/>
          </a:prstGeom>
          <a:solidFill>
            <a:srgbClr val="E4E9E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50292" cy="786384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49808" y="254203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 ／ 学生のリテンション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38728" y="2542032"/>
            <a:ext cx="8040319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/search（団体を探す）　/organizations/[id]（団体ページ・2,421件）　/timeline　/schedule　/classinfo（授業レビュー）　/mypage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49808" y="3392424"/>
            <a:ext cx="10874959" cy="5486"/>
          </a:xfrm>
          <a:prstGeom prst="rect">
            <a:avLst/>
          </a:prstGeom>
          <a:solidFill>
            <a:srgbClr val="E4E9E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66928" y="3456432"/>
            <a:ext cx="50292" cy="786384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49808" y="345643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B2B ／ 学生団体のリテンション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38728" y="3456432"/>
            <a:ext cx="8040319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/clubdashboard　/clubtasks　/clubevents　/clubats（採用）　/clubfinance（会計・財務＝今月リリース）　/clubposts　/clubmessages　/clubphotos　/clubprofile　/clubsettings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49808" y="4306824"/>
            <a:ext cx="10874959" cy="5486"/>
          </a:xfrm>
          <a:prstGeom prst="rect">
            <a:avLst/>
          </a:prstGeom>
          <a:solidFill>
            <a:srgbClr val="E4E9E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66928" y="4370832"/>
            <a:ext cx="50292" cy="786384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9808" y="437083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B2B ／ 企業（キャッシュポイント）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38728" y="4370832"/>
            <a:ext cx="8040319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/companydashboard　/companysearch（団体検索）　/companymessage　※ここはまだ育てていない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49808" y="5221224"/>
            <a:ext cx="10874959" cy="5486"/>
          </a:xfrm>
          <a:prstGeom prst="rect">
            <a:avLst/>
          </a:prstGeom>
          <a:solidFill>
            <a:srgbClr val="E4E9E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66928" y="5285232"/>
            <a:ext cx="50292" cy="786384"/>
          </a:xfrm>
          <a:prstGeom prst="rect">
            <a:avLst/>
          </a:prstGeom>
          <a:solidFill>
            <a:srgbClr val="C9D2D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49808" y="5285232"/>
            <a:ext cx="2743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獲得・運営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38728" y="5285232"/>
            <a:ext cx="8040319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/for-clubs（団体向けLP）　/manual（運営マニュアル）　/signup・/login・/invite/[token]　/admin（運営管理）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6928" y="6126480"/>
            <a:ext cx="104177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ナビゲーションには新規コンテンツページを足さない方針。導線は /guide ハブとフッターで設計している。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　いまの現在地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作るものは大方出来ているが、まだ人が来ていない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709928"/>
            <a:ext cx="2599868" cy="182880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68096" y="1947672"/>
            <a:ext cx="21975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2,421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68096" y="2734056"/>
            <a:ext cx="21975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掲載団体（承認済み）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8096" y="3044952"/>
            <a:ext cx="21975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AFC3D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全国12大学＋早稲田463件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6252" y="1709928"/>
            <a:ext cx="2599868" cy="182880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587420" y="1947672"/>
            <a:ext cx="21975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87420" y="2734056"/>
            <a:ext cx="21975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DBマイグレーション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87420" y="3044952"/>
            <a:ext cx="21975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AFC3D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テスト201件すべてgreen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5576" y="1709928"/>
            <a:ext cx="2599868" cy="1828800"/>
          </a:xfrm>
          <a:prstGeom prst="rect">
            <a:avLst/>
          </a:prstGeom>
          <a:solidFill>
            <a:srgbClr val="F2F4F7"/>
          </a:solidFill>
          <a:ln w="1905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06744" y="1947672"/>
            <a:ext cx="21975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06744" y="2734056"/>
            <a:ext cx="21975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検索クリック（3ヶ月）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6744" y="3044952"/>
            <a:ext cx="21975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表示63・平均順位14.3位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24899" y="1709928"/>
            <a:ext cx="2599868" cy="1828800"/>
          </a:xfrm>
          <a:prstGeom prst="rect">
            <a:avLst/>
          </a:prstGeom>
          <a:solidFill>
            <a:srgbClr val="F2F4F7"/>
          </a:solidFill>
          <a:ln w="1905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9226067" y="1947672"/>
            <a:ext cx="21975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226067" y="2734056"/>
            <a:ext cx="21975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Googleインデックス登録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26067" y="3044952"/>
            <a:ext cx="21975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2,438URLを7/25に初送信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785616"/>
            <a:ext cx="11057839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66928" y="3785616"/>
            <a:ext cx="50292" cy="1874520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896112" y="39684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この数字をどう読むか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96112" y="4352544"/>
            <a:ext cx="10399471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検索クリック6件は「成績が悪い」のではなく「まだ試合が始まっていない」。原因は判明していて、サイトマップがGoogleに一度も送信されておらず、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2,400ページ以上あるのに2ページしか登録されていなかった。7月25日に初送信済みで、いまは登録が増えるのを待っている段階。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つまり、いま最も価値があるのは「人を連れてくる仕事」であって、機能を足す仕事ではない。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6126480"/>
            <a:ext cx="1041775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8A97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出典：Google Search Console（2026-04-23〜07-22）／Supabase本番／GA4。収益は現時点でほぼゼロ。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　これから要る力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詰まっているのは入口側。学生と学生団体、どちらの流入も最優先で開けにいく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11057839" cy="841248"/>
          </a:xfrm>
          <a:prstGeom prst="rect">
            <a:avLst/>
          </a:prstGeom>
          <a:solidFill>
            <a:srgbClr val="FBF2F2"/>
          </a:solidFill>
          <a:ln w="1905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学生の流入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84448" y="2016252"/>
            <a:ext cx="137160" cy="137160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840480" y="166420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最優先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53328" y="1664208"/>
            <a:ext cx="5297119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検索の受け皿を厚くするのと並行して、SNS・メーリング・直接の声かけで人を連れてくる。診断コンテンツを拡散のフックにする。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11057839" cy="841248"/>
          </a:xfrm>
          <a:prstGeom prst="rect">
            <a:avLst/>
          </a:prstGeom>
          <a:solidFill>
            <a:srgbClr val="FBF2F2"/>
          </a:solidFill>
          <a:ln w="1905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41248" y="2651760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学生団体の流入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84448" y="3003804"/>
            <a:ext cx="137160" cy="137160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840480" y="265176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同じく最優先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53328" y="2651760"/>
            <a:ext cx="5297119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掲載はしているが「登録」に至っていない。掲載通知メールを営業兼許可取りにする導線をつくる（権利面の方式が未決）。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639312"/>
            <a:ext cx="11057839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41248" y="3639312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学生・団体のリテンション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84448" y="3991356"/>
            <a:ext cx="137160" cy="137160"/>
          </a:xfrm>
          <a:prstGeom prst="rect">
            <a:avLst/>
          </a:prstGeom>
          <a:solidFill>
            <a:srgbClr val="1E7A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840480" y="3639312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7A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前進中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53328" y="3639312"/>
            <a:ext cx="5297119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会計・財務モジュールを今月リリース。事務作業のたびに開くサービスへ。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626864"/>
            <a:ext cx="11057839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41248" y="4626864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企業の流入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84448" y="4978908"/>
            <a:ext cx="137160" cy="137160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3840480" y="4626864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本格化は後・検証は今から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53328" y="4626864"/>
            <a:ext cx="5297119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売り込むのはデータが厚くなってから。ただし「いくらなら出すか」のヒアリングは今すぐ始められる。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5650992"/>
            <a:ext cx="11057839" cy="603504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841248" y="5650992"/>
            <a:ext cx="1050919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横断の詰まり　</a:t>
            </a:r>
            <a:r>
              <a:rPr lang="en-US" sz="105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①順位計測ツールが未登録で施策の効果を数字で追えない　②メール送信ドメインが未認証で通知メールが迷惑メール判定されやすい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　これから要る力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任せられる持ち場は4つ。2C／2B × Sales／Product で整理した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" y="1609344"/>
            <a:ext cx="511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2C　学生・学生団体に向き合う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07328" y="1609344"/>
            <a:ext cx="511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2B　企業に向き合う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 rot="16200000">
            <a:off x="0" y="2531577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Sales　人を動かす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 rot="16200000">
            <a:off x="0" y="4406097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Product　モノをつくる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33856" y="1956816"/>
            <a:ext cx="5117440" cy="1691640"/>
          </a:xfrm>
          <a:prstGeom prst="rect">
            <a:avLst/>
          </a:prstGeom>
          <a:solidFill>
            <a:srgbClr val="FBF2F2"/>
          </a:solidFill>
          <a:ln w="2222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353312" y="2103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93392" y="2075688"/>
            <a:ext cx="403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学生・学生団体の流入をつくる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353312" y="2549398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554480" y="2487168"/>
            <a:ext cx="4477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21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SNS運営（診断コンテンツを拡散のフックに）／メーリング・学内コミュニティへの案内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353312" y="2988310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554480" y="2926080"/>
            <a:ext cx="4477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21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大学・サークルへの直接の声かけ、掲載団体への連絡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353312" y="3264408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成果：登録者数・登録団体数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07328" y="1956816"/>
            <a:ext cx="5117440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726784" y="2103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66864" y="2075688"/>
            <a:ext cx="403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企業側の初期開拓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726784" y="2549398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927952" y="2487168"/>
            <a:ext cx="4477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21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協賛を出していそうな企業のリストアップとヒアリング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726784" y="2988310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927952" y="2926080"/>
            <a:ext cx="4477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21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「何に・いくら・どんな条件で出すか」を協賛メニューの設計へ返す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6726784" y="3264408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成果：ヒアリング件数・想定単価の確度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133856" y="3831336"/>
            <a:ext cx="5117440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1353312" y="39776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93392" y="3950208"/>
            <a:ext cx="403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過去問・授業評判のDBとAIコンテンツ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1353312" y="4423918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1554480" y="4361688"/>
            <a:ext cx="4477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21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授業レビュー・過去問を集めて整理する（日常ログインの導線になる）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1353312" y="4862830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554480" y="4800600"/>
            <a:ext cx="4477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21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AIを使った記事・SNS投稿の生成と、反応を見ての改善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1353312" y="5138928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成果：掲載データ件数・検索流入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07328" y="3831336"/>
            <a:ext cx="5117440" cy="1691640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726784" y="39776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66864" y="3950208"/>
            <a:ext cx="403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団体向けの提供物を整える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726784" y="4423918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927952" y="4361688"/>
            <a:ext cx="4477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21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導入マニュアル・活用テンプレの整備（会計モジュールなど）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726784" y="4862830"/>
            <a:ext cx="100584" cy="41148"/>
          </a:xfrm>
          <a:prstGeom prst="rect">
            <a:avLst/>
          </a:prstGeom>
          <a:solidFill>
            <a:srgbClr val="8B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6927952" y="4800600"/>
            <a:ext cx="4477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21"/>
              </a:lnSpc>
              <a:buNone/>
            </a:pPr>
            <a:r>
              <a:rPr lang="en-US" sz="98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協賛の実施報告フォーマットづくり。企業に出せる形にする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6726784" y="5138928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成果：導入団体の定着率・報告書の完成度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928" y="5724144"/>
            <a:ext cx="11057839" cy="502920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841248" y="5724144"/>
            <a:ext cx="105091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いま一番空いている穴は案A。ただしAIを触りたい・つくる側に回りたいなら案Cもある。今日どれか1つに決める。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8B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今日ここで決めたいのは3点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0117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ProofLoop 事業ブリーフィング｜2026-07-26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76127" y="643737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2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892808"/>
            <a:ext cx="566928" cy="987552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66928" y="2112264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33856" y="1892808"/>
            <a:ext cx="10490911" cy="987552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408176" y="204825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担当領域の合意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08176" y="2404872"/>
            <a:ext cx="986911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案A〜Dのどれか。まずは1つに絞って、成果が見える単位で始める。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099816"/>
            <a:ext cx="566928" cy="987552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66928" y="3319272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133856" y="3099816"/>
            <a:ext cx="10490911" cy="987552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408176" y="325526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最初の2週間の具体アクション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08176" y="3611880"/>
            <a:ext cx="986911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抽象的な役割ではなく、「何を、いつまでに、どういう形で出すか」を1つ決める。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306824"/>
            <a:ext cx="566928" cy="987552"/>
          </a:xfrm>
          <a:prstGeom prst="rect">
            <a:avLst/>
          </a:prstGeom>
          <a:solidFill>
            <a:srgbClr val="002B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66928" y="452628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133856" y="4306824"/>
            <a:ext cx="10490911" cy="987552"/>
          </a:xfrm>
          <a:prstGeom prst="rect">
            <a:avLst/>
          </a:prstGeom>
          <a:solidFill>
            <a:srgbClr val="F2F4F7"/>
          </a:solidFill>
          <a:ln w="12700">
            <a:solidFill>
              <a:srgbClr val="C9D2D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408176" y="446227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B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進め方とコミュニケーション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408176" y="4818888"/>
            <a:ext cx="986911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定例の頻度、相談の経路、成果の確認方法。詰まったときにすぐ聞ける状態を作る。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1395</Words>
  <Application>Microsoft Office PowerPoint</Application>
  <PresentationFormat>ワイド画面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Noto Sans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ProofLoop 事業ブリーフィング</dc:title>
  <dc:subject>PptxGenJS Presentation</dc:subject>
  <dc:creator>ProofLoop</dc:creator>
  <cp:lastModifiedBy>学 若林</cp:lastModifiedBy>
  <cp:revision>2</cp:revision>
  <dcterms:created xsi:type="dcterms:W3CDTF">2026-07-26T04:43:57Z</dcterms:created>
  <dcterms:modified xsi:type="dcterms:W3CDTF">2026-07-26T04:59:42Z</dcterms:modified>
</cp:coreProperties>
</file>